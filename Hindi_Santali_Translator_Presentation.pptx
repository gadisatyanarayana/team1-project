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114800"/>
            <a:ext cx="3657600" cy="365760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64008" cy="50292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Hindi → Santali Translator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8700"/>
                </a:solidFill>
                <a:latin typeface="Calibri"/>
              </a:rPr>
              <a:t>हिंदी → संताली (ᱚᱞ ᱪᱤᱠᱤ) Translation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926080"/>
            <a:ext cx="5943600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EFF4"/>
                </a:solidFill>
                <a:latin typeface="Calibri"/>
              </a:rPr>
              <a:t>Version 3.0  |  Production Ready  |  3,462 Word Pairs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3872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EFF4"/>
                </a:solidFill>
                <a:latin typeface="Calibri"/>
              </a:rPr>
              <a:t>Technology: Python · Flask · NLP · TTS · Ol Chiki 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14216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EFF4"/>
                </a:solidFill>
                <a:latin typeface="Calibri"/>
              </a:rPr>
              <a:t>Subject: Machine Learning  |  Academic Year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641908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8700"/>
                </a:solidFill>
                <a:latin typeface="Calibri"/>
              </a:rPr>
              <a:t>Kakinada Institute of Engineering &amp; Technology  |  AI &amp;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Team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700"/>
                </a:solidFill>
                <a:latin typeface="Calibri"/>
              </a:rPr>
              <a:t>AI &amp; Data Science  |  Team-1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" y="1271016"/>
            <a:ext cx="2743200" cy="20116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23444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2743200" cy="640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34440" y="1399032"/>
            <a:ext cx="640080" cy="64008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3990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G. SATYANARAYANA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5877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A6B"/>
                </a:solidFill>
                <a:latin typeface="Calibri"/>
              </a:rPr>
              <a:t>Roll: 236Q1A4519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8986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Team Lead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99816" y="1271016"/>
            <a:ext cx="2743200" cy="20116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23444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63240" y="1234440"/>
            <a:ext cx="2743200" cy="640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14800" y="1399032"/>
            <a:ext cx="640080" cy="64008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13990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P. KALYANI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25877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A6B"/>
                </a:solidFill>
                <a:latin typeface="Calibri"/>
              </a:rPr>
              <a:t>Roll: 236Q1A4502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28986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700"/>
                </a:solidFill>
                <a:latin typeface="Calibri"/>
              </a:rPr>
              <a:t>Member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0176" y="1271016"/>
            <a:ext cx="2743200" cy="20116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123444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1234440"/>
            <a:ext cx="2743200" cy="640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95160" y="1399032"/>
            <a:ext cx="640080" cy="64008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13990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V. RAMAKRISHNA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25877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A6B"/>
                </a:solidFill>
                <a:latin typeface="Calibri"/>
              </a:rPr>
              <a:t>Roll: 236Q1A4505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28986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700"/>
                </a:solidFill>
                <a:latin typeface="Calibri"/>
              </a:rPr>
              <a:t>Member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" y="3447288"/>
            <a:ext cx="2743200" cy="20116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2880" y="3410712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" y="3410712"/>
            <a:ext cx="2743200" cy="640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34440" y="3575304"/>
            <a:ext cx="640080" cy="64008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3575304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3251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K. SURYA PRAVEEN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47640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A6B"/>
                </a:solidFill>
                <a:latin typeface="Calibri"/>
              </a:rPr>
              <a:t>Roll: 236Q1A4506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5074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700"/>
                </a:solidFill>
                <a:latin typeface="Calibri"/>
              </a:rPr>
              <a:t>Member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99816" y="3447288"/>
            <a:ext cx="2743200" cy="20116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063240" y="3410712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063240" y="3410712"/>
            <a:ext cx="2743200" cy="640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114800" y="3575304"/>
            <a:ext cx="640080" cy="64008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0" y="3575304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54680" y="43251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S. MAHESH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54680" y="47640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A6B"/>
                </a:solidFill>
                <a:latin typeface="Calibri"/>
              </a:rPr>
              <a:t>Roll: 236Q1A4507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54680" y="5074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700"/>
                </a:solidFill>
                <a:latin typeface="Calibri"/>
              </a:rPr>
              <a:t>Member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0176" y="3447288"/>
            <a:ext cx="2743200" cy="20116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43600" y="3410712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43600" y="3410712"/>
            <a:ext cx="2743200" cy="640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995160" y="3575304"/>
            <a:ext cx="640080" cy="64008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95160" y="3575304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43251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  <a:latin typeface="Calibri"/>
              </a:rPr>
              <a:t>G. GANGARAJU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47640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A6B"/>
                </a:solidFill>
                <a:latin typeface="Calibri"/>
              </a:rPr>
              <a:t>Roll: 236Q1A4535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5074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700"/>
                </a:solidFill>
                <a:latin typeface="Calibri"/>
              </a:rPr>
              <a:t>Member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82880" y="6510528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EFF4"/>
                </a:solidFill>
                <a:latin typeface="Calibri"/>
              </a:rPr>
              <a:t>Hindi–Santali Translator | Team-1 | KIET-ADS |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3200400" cy="320040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Project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097280"/>
            <a:ext cx="2743200" cy="4572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8412480" cy="20116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09728" cy="20116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700"/>
                </a:solidFill>
                <a:latin typeface="Calibri"/>
              </a:rPr>
              <a:t>GUIDED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K. PRAVEEN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EFF4"/>
                </a:solidFill>
                <a:latin typeface="Calibri"/>
              </a:rPr>
              <a:t>Mentor  |  IIIT Hyderabad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66160"/>
            <a:ext cx="8412480" cy="21031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109728" cy="210312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8E5"/>
                </a:solidFill>
                <a:latin typeface="Calibri"/>
              </a:rPr>
              <a:t>SUBMITTED BY / FROM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Kakinada Institute of Engineering &amp; Technology (KIET)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26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EFF4"/>
                </a:solidFill>
                <a:latin typeface="Calibri"/>
              </a:rPr>
              <a:t>Department of Artificial Intelligence &amp; Data Science (ADS Scholars)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92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700"/>
                </a:solidFill>
                <a:latin typeface="Calibri"/>
              </a:rPr>
              <a:t>Subject: Machine Learning  |  Academic Year: 2024-2025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7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519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EFF4"/>
                </a:solidFill>
                <a:latin typeface="Calibri"/>
              </a:rPr>
              <a:t>Hindi–Santali Translator | Team-1 | Machine Learning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700"/>
                </a:solidFill>
                <a:latin typeface="Calibri"/>
              </a:rPr>
              <a:t>What is this system?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25880"/>
            <a:ext cx="54864" cy="2286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3444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0D1B3E"/>
                </a:solidFill>
                <a:latin typeface="Calibri"/>
              </a:rPr>
              <a:t>Translates Hindi (Devanagari) text into Santali (Ol Chiki script) in real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764792"/>
            <a:ext cx="54864" cy="2286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6733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0D1B3E"/>
                </a:solidFill>
                <a:latin typeface="Calibri"/>
              </a:rPr>
              <a:t>Uses a curated dataset of 3,462 verified Hindi–Santali word/phrase pairs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203704"/>
            <a:ext cx="54864" cy="2286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112264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0D1B3E"/>
                </a:solidFill>
                <a:latin typeface="Calibri"/>
              </a:rPr>
              <a:t>Multiple translation methods: Dictionary lookup → Fuzzy matching → Transliteration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642616"/>
            <a:ext cx="54864" cy="2286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551176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0D1B3E"/>
                </a:solidFill>
                <a:latin typeface="Calibri"/>
              </a:rPr>
              <a:t>Voice/TTS output: Speaks the translated Santali text using gTTS or pyttsx3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081528"/>
            <a:ext cx="54864" cy="2286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990088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0D1B3E"/>
                </a:solidFill>
                <a:latin typeface="Calibri"/>
              </a:rPr>
              <a:t>Web Interface: Clean, responsive Flask-based web app (HTML/CSS/JS)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520440"/>
            <a:ext cx="54864" cy="2286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42900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0D1B3E"/>
                </a:solidFill>
                <a:latin typeface="Calibri"/>
              </a:rPr>
              <a:t>REST API: POST /api/translate  for seamless integration with other systems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959352"/>
            <a:ext cx="54864" cy="2286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8679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0D1B3E"/>
                </a:solidFill>
                <a:latin typeface="Calibri"/>
              </a:rPr>
              <a:t>Deployed on Vercel (serverless) — accessible over the internet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398264"/>
            <a:ext cx="54864" cy="2286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4306824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0D1B3E"/>
                </a:solidFill>
                <a:latin typeface="Calibri"/>
              </a:rPr>
              <a:t>Dataset sources: AI4Bharat, Common Sentences DB, Santali Language DB, Manual curation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6510528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EFF4"/>
                </a:solidFill>
                <a:latin typeface="Calibri"/>
              </a:rPr>
              <a:t>Hindi–Santali Translator | Team-1 | KIET-ADS |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700"/>
                </a:solidFill>
                <a:latin typeface="Calibri"/>
              </a:rPr>
              <a:t>How the components connect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828800"/>
            <a:ext cx="1600200" cy="9601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920240"/>
            <a:ext cx="1600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User Input
(Hindi Text)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1828800"/>
            <a:ext cx="1600200" cy="9601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920240"/>
            <a:ext cx="1600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TextProcessor
(processor.py)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1828800"/>
            <a:ext cx="160020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920240"/>
            <a:ext cx="1600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TranslationEngine
(engine.py)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3657600"/>
            <a:ext cx="1600200" cy="9601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3749040"/>
            <a:ext cx="1600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Dictionary
(dictionary.py)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1828800"/>
            <a:ext cx="1600200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1920240"/>
            <a:ext cx="1600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Audio (TTS)
(audio_gen.py)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80" y="1828800"/>
            <a:ext cx="1600200" cy="96012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1920240"/>
            <a:ext cx="1600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Flask API
(app.py)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3657600"/>
            <a:ext cx="1600200" cy="9601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3749040"/>
            <a:ext cx="1600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Web UI
(index.html)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2194560"/>
            <a:ext cx="228600" cy="9144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66160" y="2194560"/>
            <a:ext cx="228600" cy="9144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03520" y="2194560"/>
            <a:ext cx="228600" cy="9144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2834640"/>
            <a:ext cx="91440" cy="77724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2834640"/>
            <a:ext cx="91440" cy="7772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4937760"/>
            <a:ext cx="201168" cy="20116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" y="49194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  <a:latin typeface="Calibri"/>
              </a:rPr>
              <a:t>User Input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37360" y="4937760"/>
            <a:ext cx="201168" cy="20116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93392" y="49194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  <a:latin typeface="Calibri"/>
              </a:rPr>
              <a:t>Core Processing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4937760"/>
            <a:ext cx="201168" cy="2011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02152" y="49194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  <a:latin typeface="Calibri"/>
              </a:rPr>
              <a:t>Translation Engine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4937760"/>
            <a:ext cx="201168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10912" y="49194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  <a:latin typeface="Calibri"/>
              </a:rPr>
              <a:t>TTS / Audio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937760"/>
            <a:ext cx="201168" cy="201168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9672" y="49194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  <a:latin typeface="Calibri"/>
              </a:rPr>
              <a:t>Web API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4937760"/>
            <a:ext cx="201168" cy="20116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28432" y="49194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  <a:latin typeface="Calibri"/>
              </a:rPr>
              <a:t>Frontend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" y="6510528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EFF4"/>
                </a:solidFill>
                <a:latin typeface="Calibri"/>
              </a:rPr>
              <a:t>Hindi–Santali Translator | Team-1 | KIET-ADS |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15E"/>
                </a:solidFill>
                <a:latin typeface="Consolas"/>
              </a:rPr>
              <a:t>Code Walk-through  ›  main.py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0040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main.py  —  Application Entry 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987552"/>
            <a:ext cx="5212080" cy="256032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2608" y="1042416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6" y="1042416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94944" y="1042416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02412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onsolas"/>
              </a:rPr>
              <a:t>main.py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243584"/>
            <a:ext cx="5212080" cy="5340096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1243584"/>
            <a:ext cx="256032" cy="5340096"/>
          </a:xfrm>
          <a:prstGeom prst="rect">
            <a:avLst/>
          </a:prstGeom>
          <a:solidFill>
            <a:srgbClr val="26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298448"/>
            <a:ext cx="4864608" cy="5248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5715E"/>
                </a:solidFill>
                <a:latin typeface="Consolas"/>
              </a:rPr>
              <a:t>"""</a:t>
            </a:r>
          </a:p>
          <a:p>
            <a:r>
              <a:rPr sz="1100">
                <a:solidFill>
                  <a:srgbClr val="F8F8F2"/>
                </a:solidFill>
                <a:latin typeface="Consolas"/>
              </a:rPr>
              <a:t>  Main entry point for the</a:t>
            </a:r>
          </a:p>
          <a:p>
            <a:r>
              <a:rPr sz="1100">
                <a:solidFill>
                  <a:srgbClr val="F8F8F2"/>
                </a:solidFill>
                <a:latin typeface="Consolas"/>
              </a:rPr>
              <a:t>  Hindi-Santali Translator app</a:t>
            </a:r>
          </a:p>
          <a:p>
            <a:r>
              <a:rPr sz="1100">
                <a:solidFill>
                  <a:srgbClr val="75715E"/>
                </a:solidFill>
                <a:latin typeface="Consolas"/>
              </a:rPr>
              <a:t>"""</a:t>
            </a:r>
          </a:p>
          <a:p>
            <a:r>
              <a:rPr sz="1100">
                <a:solidFill>
                  <a:srgbClr val="F8F8F2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A6E22E"/>
                </a:solidFill>
                <a:latin typeface="Consolas"/>
              </a:rPr>
              <a:t>import sys</a:t>
            </a:r>
          </a:p>
          <a:p>
            <a:r>
              <a:rPr sz="1100">
                <a:solidFill>
                  <a:srgbClr val="A6E22E"/>
                </a:solidFill>
                <a:latin typeface="Consolas"/>
              </a:rPr>
              <a:t>import os</a:t>
            </a:r>
          </a:p>
          <a:p>
            <a:r>
              <a:rPr sz="1100">
                <a:solidFill>
                  <a:srgbClr val="F8F8F2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75715E"/>
                </a:solidFill>
                <a:latin typeface="Consolas"/>
              </a:rPr>
              <a:t># Add src to Python path</a:t>
            </a:r>
          </a:p>
          <a:p>
            <a:r>
              <a:rPr sz="1100">
                <a:solidFill>
                  <a:srgbClr val="F8F8F2"/>
                </a:solidFill>
                <a:latin typeface="Consolas"/>
              </a:rPr>
              <a:t>sys.path.insert(0,</a:t>
            </a:r>
          </a:p>
          <a:p>
            <a:r>
              <a:rPr sz="1100">
                <a:solidFill>
                  <a:srgbClr val="F8F8F2"/>
                </a:solidFill>
                <a:latin typeface="Consolas"/>
              </a:rPr>
              <a:t>    os.path.join(</a:t>
            </a:r>
          </a:p>
          <a:p>
            <a:r>
              <a:rPr sz="1100">
                <a:solidFill>
                  <a:srgbClr val="F8F8F2"/>
                </a:solidFill>
                <a:latin typeface="Consolas"/>
              </a:rPr>
              <a:t>        os.path.dirname(__file__),</a:t>
            </a:r>
          </a:p>
          <a:p>
            <a:r>
              <a:rPr sz="1100">
                <a:solidFill>
                  <a:srgbClr val="F8F8F2"/>
                </a:solidFill>
                <a:latin typeface="Consolas"/>
              </a:rPr>
              <a:t>        "src"</a:t>
            </a:r>
          </a:p>
          <a:p>
            <a:r>
              <a:rPr sz="1100">
                <a:solidFill>
                  <a:srgbClr val="F8F8F2"/>
                </a:solidFill>
                <a:latin typeface="Consolas"/>
              </a:rPr>
              <a:t>    )</a:t>
            </a:r>
          </a:p>
          <a:p>
            <a:r>
              <a:rPr sz="1100">
                <a:solidFill>
                  <a:srgbClr val="F8F8F2"/>
                </a:solidFill>
                <a:latin typeface="Consolas"/>
              </a:rPr>
              <a:t>)</a:t>
            </a:r>
          </a:p>
          <a:p>
            <a:r>
              <a:rPr sz="1100">
                <a:solidFill>
                  <a:srgbClr val="F8F8F2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A6E22E"/>
                </a:solidFill>
                <a:latin typeface="Consolas"/>
              </a:rPr>
              <a:t>from src.ui.app import create_app</a:t>
            </a:r>
          </a:p>
          <a:p>
            <a:r>
              <a:rPr sz="1100">
                <a:solidFill>
                  <a:srgbClr val="F8F8F2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A6E22E"/>
                </a:solidFill>
                <a:latin typeface="Consolas"/>
              </a:rPr>
              <a:t>if __name__ == "__main__":</a:t>
            </a:r>
          </a:p>
          <a:p>
            <a:r>
              <a:rPr sz="1100">
                <a:solidFill>
                  <a:srgbClr val="F8F8F2"/>
                </a:solidFill>
                <a:latin typeface="Consolas"/>
              </a:rPr>
              <a:t>    app = create_app()</a:t>
            </a:r>
          </a:p>
          <a:p>
            <a:r>
              <a:rPr sz="1100">
                <a:solidFill>
                  <a:srgbClr val="F8F8F2"/>
                </a:solidFill>
                <a:latin typeface="Consolas"/>
              </a:rPr>
              <a:t>    app.run(</a:t>
            </a:r>
          </a:p>
          <a:p>
            <a:r>
              <a:rPr sz="1100">
                <a:solidFill>
                  <a:srgbClr val="F8F8F2"/>
                </a:solidFill>
                <a:latin typeface="Consolas"/>
              </a:rPr>
              <a:t>        debug=False,</a:t>
            </a:r>
          </a:p>
          <a:p>
            <a:r>
              <a:rPr sz="1100">
                <a:solidFill>
                  <a:srgbClr val="F8F8F2"/>
                </a:solidFill>
                <a:latin typeface="Consolas"/>
              </a:rPr>
              <a:t>        host="0.0.0.0",</a:t>
            </a:r>
          </a:p>
          <a:p>
            <a:r>
              <a:rPr sz="1100">
                <a:solidFill>
                  <a:srgbClr val="F8F8F2"/>
                </a:solidFill>
                <a:latin typeface="Consolas"/>
              </a:rPr>
              <a:t>        port=5000,</a:t>
            </a:r>
          </a:p>
          <a:p>
            <a:r>
              <a:rPr sz="1100">
                <a:solidFill>
                  <a:srgbClr val="F8F8F2"/>
                </a:solidFill>
                <a:latin typeface="Consolas"/>
              </a:rPr>
              <a:t>        use_reloader=False</a:t>
            </a:r>
          </a:p>
          <a:p>
            <a:r>
              <a:rPr sz="1100">
                <a:solidFill>
                  <a:srgbClr val="F8F8F2"/>
                </a:solidFill>
                <a:latin typeface="Consolas"/>
              </a:rPr>
              <a:t>    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" y="1298448"/>
            <a:ext cx="210312" cy="5248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5715E"/>
                </a:solidFill>
                <a:latin typeface="Consolas"/>
              </a:rPr>
              <a:t>1</a:t>
            </a:r>
          </a:p>
          <a:p>
            <a:pPr algn="r"/>
            <a:r>
              <a:rPr sz="1000">
                <a:solidFill>
                  <a:srgbClr val="75715E"/>
                </a:solidFill>
                <a:latin typeface="Consolas"/>
              </a:rPr>
              <a:t>2</a:t>
            </a:r>
          </a:p>
          <a:p>
            <a:pPr algn="r"/>
            <a:r>
              <a:rPr sz="1000">
                <a:solidFill>
                  <a:srgbClr val="75715E"/>
                </a:solidFill>
                <a:latin typeface="Consolas"/>
              </a:rPr>
              <a:t>3</a:t>
            </a:r>
          </a:p>
          <a:p>
            <a:pPr algn="r"/>
            <a:r>
              <a:rPr sz="1000">
                <a:solidFill>
                  <a:srgbClr val="75715E"/>
                </a:solidFill>
                <a:latin typeface="Consolas"/>
              </a:rPr>
              <a:t>4</a:t>
            </a:r>
          </a:p>
          <a:p>
            <a:pPr algn="r"/>
            <a:r>
              <a:rPr sz="1000">
                <a:solidFill>
                  <a:srgbClr val="75715E"/>
                </a:solidFill>
                <a:latin typeface="Consolas"/>
              </a:rPr>
              <a:t>5</a:t>
            </a:r>
          </a:p>
          <a:p>
            <a:pPr algn="r"/>
            <a:r>
              <a:rPr sz="1000">
                <a:solidFill>
                  <a:srgbClr val="75715E"/>
                </a:solidFill>
                <a:latin typeface="Consolas"/>
              </a:rPr>
              <a:t>6</a:t>
            </a:r>
          </a:p>
          <a:p>
            <a:pPr algn="r"/>
            <a:r>
              <a:rPr sz="1000">
                <a:solidFill>
                  <a:srgbClr val="75715E"/>
                </a:solidFill>
                <a:latin typeface="Consolas"/>
              </a:rPr>
              <a:t>7</a:t>
            </a:r>
          </a:p>
          <a:p>
            <a:pPr algn="r"/>
            <a:r>
              <a:rPr sz="1000">
                <a:solidFill>
                  <a:srgbClr val="75715E"/>
                </a:solidFill>
                <a:latin typeface="Consolas"/>
              </a:rPr>
              <a:t>8</a:t>
            </a:r>
          </a:p>
          <a:p>
            <a:pPr algn="r"/>
            <a:r>
              <a:rPr sz="1000">
                <a:solidFill>
                  <a:srgbClr val="75715E"/>
                </a:solidFill>
                <a:latin typeface="Consolas"/>
              </a:rPr>
              <a:t>9</a:t>
            </a:r>
          </a:p>
          <a:p>
            <a:pPr algn="r"/>
            <a:r>
              <a:rPr sz="1000">
                <a:solidFill>
                  <a:srgbClr val="75715E"/>
                </a:solidFill>
                <a:latin typeface="Consolas"/>
              </a:rPr>
              <a:t>10</a:t>
            </a:r>
          </a:p>
          <a:p>
            <a:pPr algn="r"/>
            <a:r>
              <a:rPr sz="1000">
                <a:solidFill>
                  <a:srgbClr val="75715E"/>
                </a:solidFill>
                <a:latin typeface="Consolas"/>
              </a:rPr>
              <a:t>11</a:t>
            </a:r>
          </a:p>
          <a:p>
            <a:pPr algn="r"/>
            <a:r>
              <a:rPr sz="1000">
                <a:solidFill>
                  <a:srgbClr val="75715E"/>
                </a:solidFill>
                <a:latin typeface="Consolas"/>
              </a:rPr>
              <a:t>12</a:t>
            </a:r>
          </a:p>
          <a:p>
            <a:pPr algn="r"/>
            <a:r>
              <a:rPr sz="1000">
                <a:solidFill>
                  <a:srgbClr val="75715E"/>
                </a:solidFill>
                <a:latin typeface="Consolas"/>
              </a:rPr>
              <a:t>13</a:t>
            </a:r>
          </a:p>
          <a:p>
            <a:pPr algn="r"/>
            <a:r>
              <a:rPr sz="1000">
                <a:solidFill>
                  <a:srgbClr val="75715E"/>
                </a:solidFill>
                <a:latin typeface="Consolas"/>
              </a:rPr>
              <a:t>14</a:t>
            </a:r>
          </a:p>
          <a:p>
            <a:pPr algn="r"/>
            <a:r>
              <a:rPr sz="1000">
                <a:solidFill>
                  <a:srgbClr val="75715E"/>
                </a:solidFill>
                <a:latin typeface="Consolas"/>
              </a:rPr>
              <a:t>15</a:t>
            </a:r>
          </a:p>
          <a:p>
            <a:pPr algn="r"/>
            <a:r>
              <a:rPr sz="1000">
                <a:solidFill>
                  <a:srgbClr val="75715E"/>
                </a:solidFill>
                <a:latin typeface="Consolas"/>
              </a:rPr>
              <a:t>16</a:t>
            </a:r>
          </a:p>
          <a:p>
            <a:pPr algn="r"/>
            <a:r>
              <a:rPr sz="1000">
                <a:solidFill>
                  <a:srgbClr val="75715E"/>
                </a:solidFill>
                <a:latin typeface="Consolas"/>
              </a:rPr>
              <a:t>17</a:t>
            </a:r>
          </a:p>
          <a:p>
            <a:pPr algn="r"/>
            <a:r>
              <a:rPr sz="1000">
                <a:solidFill>
                  <a:srgbClr val="75715E"/>
                </a:solidFill>
                <a:latin typeface="Consolas"/>
              </a:rPr>
              <a:t>18</a:t>
            </a:r>
          </a:p>
          <a:p>
            <a:pPr algn="r"/>
            <a:r>
              <a:rPr sz="1000">
                <a:solidFill>
                  <a:srgbClr val="75715E"/>
                </a:solidFill>
                <a:latin typeface="Consolas"/>
              </a:rPr>
              <a:t>19</a:t>
            </a:r>
          </a:p>
          <a:p>
            <a:pPr algn="r"/>
            <a:r>
              <a:rPr sz="1000">
                <a:solidFill>
                  <a:srgbClr val="75715E"/>
                </a:solidFill>
                <a:latin typeface="Consolas"/>
              </a:rPr>
              <a:t>20</a:t>
            </a:r>
          </a:p>
          <a:p>
            <a:pPr algn="r"/>
            <a:r>
              <a:rPr sz="1000">
                <a:solidFill>
                  <a:srgbClr val="75715E"/>
                </a:solidFill>
                <a:latin typeface="Consolas"/>
              </a:rPr>
              <a:t>21</a:t>
            </a:r>
          </a:p>
          <a:p>
            <a:pPr algn="r"/>
            <a:r>
              <a:rPr sz="1000">
                <a:solidFill>
                  <a:srgbClr val="75715E"/>
                </a:solidFill>
                <a:latin typeface="Consolas"/>
              </a:rPr>
              <a:t>22</a:t>
            </a:r>
          </a:p>
          <a:p>
            <a:pPr algn="r"/>
            <a:r>
              <a:rPr sz="1000">
                <a:solidFill>
                  <a:srgbClr val="75715E"/>
                </a:solidFill>
                <a:latin typeface="Consolas"/>
              </a:rPr>
              <a:t>23</a:t>
            </a:r>
          </a:p>
          <a:p>
            <a:pPr algn="r"/>
            <a:r>
              <a:rPr sz="1000">
                <a:solidFill>
                  <a:srgbClr val="75715E"/>
                </a:solidFill>
                <a:latin typeface="Consolas"/>
              </a:rPr>
              <a:t>24</a:t>
            </a:r>
          </a:p>
          <a:p>
            <a:pPr algn="r"/>
            <a:r>
              <a:rPr sz="1000">
                <a:solidFill>
                  <a:srgbClr val="75715E"/>
                </a:solidFill>
                <a:latin typeface="Consolas"/>
              </a:rPr>
              <a:t>25</a:t>
            </a:r>
          </a:p>
          <a:p>
            <a:pPr algn="r"/>
            <a:r>
              <a:rPr sz="1000">
                <a:solidFill>
                  <a:srgbClr val="75715E"/>
                </a:solidFill>
                <a:latin typeface="Consolas"/>
              </a:rPr>
              <a:t>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987552"/>
            <a:ext cx="3566160" cy="5596128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987552"/>
            <a:ext cx="356616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50992" y="109728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What this file does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50992" y="1581912"/>
            <a:ext cx="3246120" cy="2743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50992" y="1792224"/>
            <a:ext cx="64008" cy="16459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88152" y="1700784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Acts as the single entry point for the entire application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50992" y="2313431"/>
            <a:ext cx="64008" cy="16459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88152" y="2221991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Adds the src/ folder to sys.path so all modules can be imported cleanly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50992" y="2834638"/>
            <a:ext cx="64008" cy="16459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88152" y="2743198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Calls create_app() which sets up the Flask web server with all routes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50992" y="3355845"/>
            <a:ext cx="64008" cy="16459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88152" y="3264405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Starts the server on host 0.0.0.0 (all interfaces) and port 5000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50992" y="3877052"/>
            <a:ext cx="64008" cy="16459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88152" y="3785612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debug=False ensures production-safe execution with no auto-reloader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50992" y="4398259"/>
            <a:ext cx="64008" cy="16459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88152" y="4306819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Run with:  python main.py  then visit http://localhost:5000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50992" y="4919466"/>
            <a:ext cx="64008" cy="16459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88152" y="4828026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On Vercel, api/index.py replaces this as the serverless entry point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01968"/>
            <a:ext cx="9144000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CEFF4"/>
                </a:solidFill>
                <a:latin typeface="Calibri"/>
              </a:rPr>
              <a:t>Hindi–Santali Translator  |  Team-1  |  KIET-ADS  | 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15E"/>
                </a:solidFill>
                <a:latin typeface="Consolas"/>
              </a:rPr>
              <a:t>Code Walk-through  ›  src/translator/engine.py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0040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engine.py  —  Translation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987552"/>
            <a:ext cx="5212080" cy="256032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2608" y="1042416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6" y="1042416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94944" y="1042416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02412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onsolas"/>
              </a:rPr>
              <a:t>src/translator/engine.py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243584"/>
            <a:ext cx="5212080" cy="5340096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1243584"/>
            <a:ext cx="256032" cy="5340096"/>
          </a:xfrm>
          <a:prstGeom prst="rect">
            <a:avLst/>
          </a:prstGeom>
          <a:solidFill>
            <a:srgbClr val="26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298448"/>
            <a:ext cx="4864608" cy="5248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5715E"/>
                </a:solidFill>
                <a:latin typeface="Consolas"/>
              </a:rPr>
              <a:t># Hindi → Ol Chiki character map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HINDI_OLCHIKI_MAP = {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"अ":"ᱚ", "आ":"ᱟ", "इ":"ᱤ",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"उ":"ᱩ", "ए":"ᱮ", "ओ":"ᱳ",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"क":"ᱠ", "ग":"ᱜ", "च":"ᱪ",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"ज":"ᱡ", "ट":"ᱴ", "ड":"ᱫ",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"त":"ᱛ", "द":"ᱰ", "न":"ᱱ",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"प":"ᱯ", "ब":"ᱵ", "म":"ᱢ",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"र":"ᱨ", "ल":"ᱞ", "ह":"ᱦ",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"ं":"ᱝ", "्":"",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}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class TranslationEngine: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def translate(self, text,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          src="hi", tgt="sat"):</a:t>
            </a:r>
          </a:p>
          <a:p>
            <a:r>
              <a:rPr sz="900">
                <a:solidFill>
                  <a:srgbClr val="75715E"/>
                </a:solidFill>
                <a:latin typeface="Consolas"/>
              </a:rPr>
              <a:t>        # Tier 1: exact dict lookup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r = self.dictionary.lookup(text)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    if r: return r</a:t>
            </a:r>
          </a:p>
          <a:p>
            <a:r>
              <a:rPr sz="900">
                <a:solidFill>
                  <a:srgbClr val="75715E"/>
                </a:solidFill>
                <a:latin typeface="Consolas"/>
              </a:rPr>
              <a:t>        # Tier 2: fuzzy match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r = self.dictionary.fuzzy_lookup(text)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    if r: return r</a:t>
            </a:r>
          </a:p>
          <a:p>
            <a:r>
              <a:rPr sz="900">
                <a:solidFill>
                  <a:srgbClr val="75715E"/>
                </a:solidFill>
                <a:latin typeface="Consolas"/>
              </a:rPr>
              <a:t>        # Tier 3: transliteration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    return self._transliterate(text)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" y="1298448"/>
            <a:ext cx="210312" cy="5248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3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4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5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6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7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8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9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10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11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12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13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14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15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16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17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18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19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20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21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22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987552"/>
            <a:ext cx="3566160" cy="5596128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987552"/>
            <a:ext cx="3566160" cy="54864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50992" y="109728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What this file does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50992" y="1581912"/>
            <a:ext cx="3246120" cy="27432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50992" y="1792224"/>
            <a:ext cx="64008" cy="164592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88152" y="1700784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Core brain of the project — handles all translation logic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50992" y="2313431"/>
            <a:ext cx="64008" cy="164592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88152" y="2221991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HINDI_OLCHIKI_MAP: maps every Hindi letter to its Ol Chiki equivalent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50992" y="2834638"/>
            <a:ext cx="64008" cy="164592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88152" y="2743198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Tier 1 — Exact lookup: searches the 3,462-entry hash-map in O(1) time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50992" y="3355845"/>
            <a:ext cx="64008" cy="164592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88152" y="3264405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Tier 2 — Fuzzy match: uses SequenceMatcher for typo-tolerant queries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50992" y="3877052"/>
            <a:ext cx="64008" cy="164592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88152" y="3785612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Tier 3 — Transliteration: converts letter-by-letter using the character map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50992" y="4398259"/>
            <a:ext cx="64008" cy="164592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88152" y="4306819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Also contains a 600-word built-in Hindi→English dictionary for context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50992" y="4919466"/>
            <a:ext cx="64008" cy="164592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88152" y="4828026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Handles both Hindi→Santali and Santali→Hindi direction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01968"/>
            <a:ext cx="9144000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CEFF4"/>
                </a:solidFill>
                <a:latin typeface="Calibri"/>
              </a:rPr>
              <a:t>Hindi–Santali Translator  |  Team-1  |  KIET-ADS  | 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15E"/>
                </a:solidFill>
                <a:latin typeface="Consolas"/>
              </a:rPr>
              <a:t>Code Walk-through  ›  src/translator/dictionary.py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0040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dictionary.py  —  Dictionary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987552"/>
            <a:ext cx="5212080" cy="256032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2608" y="1042416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6" y="1042416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94944" y="1042416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02412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onsolas"/>
              </a:rPr>
              <a:t>src/translator/dictionary.py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243584"/>
            <a:ext cx="5212080" cy="5340096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1243584"/>
            <a:ext cx="256032" cy="5340096"/>
          </a:xfrm>
          <a:prstGeom prst="rect">
            <a:avLst/>
          </a:prstGeom>
          <a:solidFill>
            <a:srgbClr val="26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298448"/>
            <a:ext cx="4864608" cy="5248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6E22E"/>
                </a:solidFill>
                <a:latin typeface="Consolas"/>
              </a:rPr>
              <a:t>class Dictionary:</a:t>
            </a:r>
          </a:p>
          <a:p>
            <a:r>
              <a:rPr sz="900">
                <a:solidFill>
                  <a:srgbClr val="75715E"/>
                </a:solidFill>
                <a:latin typeface="Consolas"/>
              </a:rPr>
              <a:t>    """Hindi–Santali dict lookups"""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def __init__(self, path):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self.hindi_to_santali = {}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self.santali_to_hindi = {}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self.hindi_lower = {}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self.load_dictionary()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def load_dictionary(self):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    with open(self.path,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          encoding="utf-8") as f: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        for row in csv.DictReader(f):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        h = row["hindi"].strip()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        s = row["santali_olchiki"]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            if h and s: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            self.hindi_to_santali[h]=s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            self.hindi_lower[h.lower()]=s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def _is_valid_santali(self, text):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tokens = text.split()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singles = sum(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    1 for t in tokens if len(t)==1)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    return singles/max(len(tokens),1)&lt;=0.5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" y="1298448"/>
            <a:ext cx="210312" cy="5248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3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4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5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6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7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8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9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10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11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12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13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14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15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16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17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18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19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20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21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22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23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987552"/>
            <a:ext cx="3566160" cy="5596128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987552"/>
            <a:ext cx="356616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50992" y="109728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What this file does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50992" y="1581912"/>
            <a:ext cx="3246120" cy="274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50992" y="1792224"/>
            <a:ext cx="64008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88152" y="1700784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Reads hindi_santali_final.csv (3,462 pairs) into memory at startup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50992" y="2313431"/>
            <a:ext cx="64008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88152" y="2221991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Stores data in Python dicts for O(1) key-value lookups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50992" y="2834638"/>
            <a:ext cx="64008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88152" y="2743198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hindi_lower{} enables case-insensitive matching automatically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50992" y="3355845"/>
            <a:ext cx="64008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88152" y="3264405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_is_valid_santali() filters out garbled/corrupted Ol Chiki entries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50992" y="3877052"/>
            <a:ext cx="64008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88152" y="3785612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Supports both forward (Hindi→Santali) and reverse (Santali→Hindi)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50992" y="4398259"/>
            <a:ext cx="64008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88152" y="4306819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prefix_index{} enables prefix-based partial word matching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50992" y="4919466"/>
            <a:ext cx="64008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88152" y="4828026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Uses unicodedata.normalize('NFC') for correct Devanagari handling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01968"/>
            <a:ext cx="9144000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CEFF4"/>
                </a:solidFill>
                <a:latin typeface="Calibri"/>
              </a:rPr>
              <a:t>Hindi–Santali Translator  |  Team-1  |  KIET-ADS  | 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15E"/>
                </a:solidFill>
                <a:latin typeface="Consolas"/>
              </a:rPr>
              <a:t>Code Walk-through  ›  src/translator/processor.py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0040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processor.py  —  Text Preprocessing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987552"/>
            <a:ext cx="5212080" cy="256032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2608" y="1042416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6" y="1042416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94944" y="1042416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02412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onsolas"/>
              </a:rPr>
              <a:t>src/translator/processor.py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243584"/>
            <a:ext cx="5212080" cy="5340096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1243584"/>
            <a:ext cx="256032" cy="5340096"/>
          </a:xfrm>
          <a:prstGeom prst="rect">
            <a:avLst/>
          </a:prstGeom>
          <a:solidFill>
            <a:srgbClr val="26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298448"/>
            <a:ext cx="4864608" cy="5248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6E22E"/>
                </a:solidFill>
                <a:latin typeface="Consolas"/>
              </a:rPr>
              <a:t>import re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from typing import List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class TextProcessor:</a:t>
            </a:r>
          </a:p>
          <a:p>
            <a:r>
              <a:rPr sz="900">
                <a:solidFill>
                  <a:srgbClr val="75715E"/>
                </a:solidFill>
                <a:latin typeface="Consolas"/>
              </a:rPr>
              <a:t>    """Preprocess Hindi/Santali text"""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def __init__(self):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self.patterns = {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  "extra_spaces": r"\s+",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  "special_chars":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    r"[^\w\s\u0900-\u097F\u1C65-\u1C88।॥]",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}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def clean_text(self, text: str) -&gt; str: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text = re.sub(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    self.patterns["extra_spaces"],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    " ", text)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    return text.strip()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def tokenize_words(self,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               text: str) -&gt; List[str]: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    return text.split()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def tokenize_sentences(self,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                   text: str) -&gt; List[str]: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    return re.split(r"[।॥\.!\?]+", text)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" y="1298448"/>
            <a:ext cx="210312" cy="5248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3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4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5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6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7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8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9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10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11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12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13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14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15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16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17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18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19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20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21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22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23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24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25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987552"/>
            <a:ext cx="3566160" cy="5596128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987552"/>
            <a:ext cx="3566160" cy="54864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50992" y="109728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What this file does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50992" y="1581912"/>
            <a:ext cx="3246120" cy="2743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50992" y="1792224"/>
            <a:ext cx="64008" cy="16459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88152" y="1700784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Cleans raw user input before passing to the translation engine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50992" y="2313431"/>
            <a:ext cx="64008" cy="16459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88152" y="2221991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Handles extra spaces, line breaks and special characters safely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50992" y="2834638"/>
            <a:ext cx="64008" cy="16459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88152" y="2743198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Unicode range U+0900–097F covers all Devanagari (Hindi) characters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50992" y="3355845"/>
            <a:ext cx="64008" cy="16459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88152" y="3264405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Unicode range U+1C50–1C7F covers all Ol Chiki (Santali) characters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50992" y="3877052"/>
            <a:ext cx="64008" cy="16459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88152" y="3785612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tokenize_sentences() splits on Hindi sentence markers (। ॥)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50992" y="4398259"/>
            <a:ext cx="64008" cy="16459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88152" y="4306819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tokenize_words() splits on whitespace for word-by-word translation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50992" y="4919466"/>
            <a:ext cx="64008" cy="16459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88152" y="4828026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No external NLP library (NLTK/spaCy) needed — pure Python regex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01968"/>
            <a:ext cx="9144000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CEFF4"/>
                </a:solidFill>
                <a:latin typeface="Calibri"/>
              </a:rPr>
              <a:t>Hindi–Santali Translator  |  Team-1  |  KIET-ADS  | 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15E"/>
                </a:solidFill>
                <a:latin typeface="Consolas"/>
              </a:rPr>
              <a:t>Code Walk-through  ›  src/translator/audio_gen.py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0040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audio_gen.py  —  Text-to-Speech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987552"/>
            <a:ext cx="5212080" cy="256032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2608" y="1042416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6" y="1042416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94944" y="1042416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02412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onsolas"/>
              </a:rPr>
              <a:t>src/translator/audio_gen.py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243584"/>
            <a:ext cx="5212080" cy="5340096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1243584"/>
            <a:ext cx="256032" cy="5340096"/>
          </a:xfrm>
          <a:prstGeom prst="rect">
            <a:avLst/>
          </a:prstGeom>
          <a:solidFill>
            <a:srgbClr val="26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298448"/>
            <a:ext cx="4864608" cy="5248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6E22E"/>
                </a:solidFill>
                <a:latin typeface="Consolas"/>
              </a:rPr>
              <a:t>def generate_speech_audio(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text, language="hi"):</a:t>
            </a:r>
          </a:p>
          <a:p>
            <a:r>
              <a:rPr sz="900">
                <a:solidFill>
                  <a:srgbClr val="75715E"/>
                </a:solidFill>
                <a:latin typeface="Consolas"/>
              </a:rPr>
              <a:t>    """Return (audio_bytes, mime)"""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if not text.strip():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    return None, None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5715E"/>
                </a:solidFill>
                <a:latin typeface="Consolas"/>
              </a:rPr>
              <a:t>    # Ol Chiki → phonetic text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if is_olchiki_text(text):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text = prepare_text_for_tts(text)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language = "hi"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5715E"/>
                </a:solidFill>
                <a:latin typeface="Consolas"/>
              </a:rPr>
              <a:t>    # Priority 1: gTTS (Google)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try: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a = _generate_with_gtts(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        text, language)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    if a: return a, "audio/mpeg"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except Exception: pass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5715E"/>
                </a:solidFill>
                <a:latin typeface="Consolas"/>
              </a:rPr>
              <a:t>    # Priority 2: pyttsx3 (offline)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try: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a = _generate_with_pyttsx3(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        text, language)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    if a: return a, "audio/wav"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except Exception: pass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75715E"/>
                </a:solidFill>
                <a:latin typeface="Consolas"/>
              </a:rPr>
              <a:t>    # Priority 3: Built-in WAV tone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return generate_simple_tone(),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   "audio/wav"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" y="1298448"/>
            <a:ext cx="210312" cy="5248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3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4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5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6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7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8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9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10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11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12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13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14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15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16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17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18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19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20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21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22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23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24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25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26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27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987552"/>
            <a:ext cx="3566160" cy="5596128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987552"/>
            <a:ext cx="3566160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50992" y="109728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What this file does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50992" y="1581912"/>
            <a:ext cx="3246120" cy="2743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50992" y="1792224"/>
            <a:ext cx="64008" cy="1645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88152" y="1700784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Generates spoken audio for any Hindi or Santali 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50992" y="2313431"/>
            <a:ext cx="64008" cy="1645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88152" y="2221991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Ol Chiki script is first transliterated to phonetic Latin for TTS engines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50992" y="2834638"/>
            <a:ext cx="64008" cy="1645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88152" y="2743198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Priority 1 — gTTS (Google): best quality MP3, requires internet connection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50992" y="3355845"/>
            <a:ext cx="64008" cy="1645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88152" y="3264405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Priority 2 — pyttsx3: fully offline fallback, produces WAV audio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50992" y="3877052"/>
            <a:ext cx="64008" cy="1645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88152" y="3785612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Priority 3 — built-in pure-Python WAV tone: always works, no dependencies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50992" y="4398259"/>
            <a:ext cx="64008" cy="1645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88152" y="4306819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Returns (bytes, mime_type) so Flask can send correct Content-Type header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50992" y="4919466"/>
            <a:ext cx="64008" cy="1645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88152" y="4828026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Called by the POST /api/speak endpoint in app.py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01968"/>
            <a:ext cx="9144000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CEFF4"/>
                </a:solidFill>
                <a:latin typeface="Calibri"/>
              </a:rPr>
              <a:t>Hindi–Santali Translator  |  Team-1  |  KIET-ADS  | 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15E"/>
                </a:solidFill>
                <a:latin typeface="Consolas"/>
              </a:rPr>
              <a:t>Code Walk-through  ›  src/ui/app.py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0040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app.py  —  Flask REST API &amp; Web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987552"/>
            <a:ext cx="5212080" cy="256032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2608" y="1042416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6" y="1042416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94944" y="1042416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02412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onsolas"/>
              </a:rPr>
              <a:t>src/ui/app.py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243584"/>
            <a:ext cx="5212080" cy="5340096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1243584"/>
            <a:ext cx="256032" cy="5340096"/>
          </a:xfrm>
          <a:prstGeom prst="rect">
            <a:avLst/>
          </a:prstGeom>
          <a:solidFill>
            <a:srgbClr val="26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298448"/>
            <a:ext cx="4864608" cy="5248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6E22E"/>
                </a:solidFill>
                <a:latin typeface="Consolas"/>
              </a:rPr>
              <a:t>from flask import (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Flask, render_template,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request, jsonify)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from flask_cors import CORS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from translator.engine import TranslationEngine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def create_app(config=None):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app = Flask(__name__,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template_folder="templates")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CORS(app)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translator = TranslationEngine()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@app.route("/")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def index():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    return render_template("index.html")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@app.route("/api/translate",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       methods=["POST"])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def translate():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data = request.get_json()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text = data.get("text","").strip()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src  = data.get("source_lang","hi")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tgt  = data.get("target_lang","sat")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    if not text: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        return jsonify({"success":False}),400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    return jsonify(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    translator.translate(text,src,tgt))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@app.route("/api/speak",methods=["POST"])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def speak():</a:t>
            </a:r>
          </a:p>
          <a:p>
            <a:r>
              <a:rPr sz="900">
                <a:solidFill>
                  <a:srgbClr val="75715E"/>
                </a:solidFill>
                <a:latin typeface="Consolas"/>
              </a:rPr>
              <a:t>        # returns audio bytes via audio_gen</a:t>
            </a:r>
          </a:p>
          <a:p>
            <a:r>
              <a:rPr sz="900">
                <a:solidFill>
                  <a:srgbClr val="F8F8F2"/>
                </a:solidFill>
                <a:latin typeface="Consolas"/>
              </a:rPr>
              <a:t>        ...</a:t>
            </a:r>
          </a:p>
          <a:p>
            <a:r>
              <a:rPr sz="900">
                <a:solidFill>
                  <a:srgbClr val="A6E22E"/>
                </a:solidFill>
                <a:latin typeface="Consolas"/>
              </a:rPr>
              <a:t>    return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" y="1298448"/>
            <a:ext cx="210312" cy="5248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3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4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5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6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7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8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9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10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11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12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13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14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15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16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17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18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19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20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21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22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23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24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25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26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27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28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29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30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31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32</a:t>
            </a:r>
          </a:p>
          <a:p>
            <a:pPr algn="r"/>
            <a:r>
              <a:rPr sz="800">
                <a:solidFill>
                  <a:srgbClr val="75715E"/>
                </a:solidFill>
                <a:latin typeface="Consolas"/>
              </a:rPr>
              <a:t>33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987552"/>
            <a:ext cx="3566160" cy="5596128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987552"/>
            <a:ext cx="3566160" cy="54864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50992" y="109728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What this file does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50992" y="1581912"/>
            <a:ext cx="3246120" cy="27432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50992" y="1792224"/>
            <a:ext cx="64008" cy="164592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88152" y="1700784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Flask factory pattern — create_app() builds and returns the app object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50992" y="2313431"/>
            <a:ext cx="64008" cy="164592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88152" y="2221991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CORS(app) enables cross-origin requests for frontend/mobile clients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50992" y="2834638"/>
            <a:ext cx="64008" cy="164592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88152" y="2743198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GET /  →  serves the responsive HTML web interface (index.html)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50992" y="3355845"/>
            <a:ext cx="64008" cy="164592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88152" y="3264405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POST /api/translate  →  accepts JSON {text, source_lang, target_lang}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50992" y="3877052"/>
            <a:ext cx="64008" cy="164592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88152" y="3785612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POST /api/speak  →  returns audio bytes (MP3/WAV) for given 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50992" y="4398259"/>
            <a:ext cx="64008" cy="164592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88152" y="4306819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POST /api/batch-translate  →  translates multiple texts in one call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50992" y="4919466"/>
            <a:ext cx="64008" cy="164592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88152" y="4828026"/>
            <a:ext cx="3154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1B3E"/>
                </a:solidFill>
                <a:latin typeface="Calibri"/>
              </a:rPr>
              <a:t>All routes return JSON responses with success/error fields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01968"/>
            <a:ext cx="9144000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CEFF4"/>
                </a:solidFill>
                <a:latin typeface="Calibri"/>
              </a:rPr>
              <a:t>Hindi–Santali Translator  |  Team-1  |  KIET-ADS  |  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700"/>
                </a:solidFill>
                <a:latin typeface="Calibri"/>
              </a:rPr>
              <a:t>hindi_santali_final.csv  —  3,462 Verified 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2057400" cy="1188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32588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3,462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874519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Total Word Pairs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41448" y="1280160"/>
            <a:ext cx="2057400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41448" y="132588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99.7%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1874519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Deduplication Efficiency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54296" y="1280160"/>
            <a:ext cx="2057400" cy="118872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132588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1874519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Verified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67144" y="1280160"/>
            <a:ext cx="2057400" cy="11887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67144" y="132588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8+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7144" y="1874519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Vocabulary Categories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651760"/>
            <a:ext cx="868680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724912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72491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Entries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724912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035808"/>
            <a:ext cx="8686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108960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AI4Bharat (Govt. Initiative)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108960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2,100+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310896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Verified vocab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3419856"/>
            <a:ext cx="8686800" cy="38404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493008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A6B"/>
                </a:solidFill>
                <a:latin typeface="Calibri"/>
              </a:rPr>
              <a:t>Common Sentences 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49300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A6B"/>
                </a:solidFill>
                <a:latin typeface="Calibri"/>
              </a:rPr>
              <a:t>114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493008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A6B"/>
                </a:solidFill>
                <a:latin typeface="Calibri"/>
              </a:rPr>
              <a:t>Phrases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803904"/>
            <a:ext cx="8686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877056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Santali Language 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87705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123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3877056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Vocabulary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4187952"/>
            <a:ext cx="8686800" cy="38404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4261104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A6B"/>
                </a:solidFill>
                <a:latin typeface="Calibri"/>
              </a:rPr>
              <a:t>Numbers &amp; Measurements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26110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A6B"/>
                </a:solidFill>
                <a:latin typeface="Calibri"/>
              </a:rPr>
              <a:t>49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426110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A6B"/>
                </a:solidFill>
                <a:latin typeface="Calibri"/>
              </a:rPr>
              <a:t>Numeric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4572000"/>
            <a:ext cx="8686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4645152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Colors &amp; Shapes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464515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4645152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Visual vocab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4956048"/>
            <a:ext cx="8686800" cy="38404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029200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A6B"/>
                </a:solidFill>
                <a:latin typeface="Calibri"/>
              </a:rPr>
              <a:t>Professions &amp; Occupations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5029200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A6B"/>
                </a:solidFill>
                <a:latin typeface="Calibri"/>
              </a:rPr>
              <a:t>49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502920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A6B"/>
                </a:solidFill>
                <a:latin typeface="Calibri"/>
              </a:rPr>
              <a:t>Semantic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5340096"/>
            <a:ext cx="8686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5413248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Animals, Body, Actions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4840" y="541324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195+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06440" y="5413248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Thematic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2880" y="6510528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EFF4"/>
                </a:solidFill>
                <a:latin typeface="Calibri"/>
              </a:rPr>
              <a:t>Hindi–Santali Translator | Team-1 | KIET-ADS | 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700"/>
                </a:solidFill>
                <a:latin typeface="Calibri"/>
              </a:rPr>
              <a:t>What makes this system powerful?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89304"/>
            <a:ext cx="54864" cy="2286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344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D1B3E"/>
                </a:solidFill>
                <a:latin typeface="Calibri"/>
              </a:rPr>
              <a:t>Real-time Hindi → Santali (Ol Chiki) translation via web interface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764792"/>
            <a:ext cx="54864" cy="2286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709928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D1B3E"/>
                </a:solidFill>
                <a:latin typeface="Calibri"/>
              </a:rPr>
              <a:t>3,462 high-quality word pairs — largest verified open-source dataset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240280"/>
            <a:ext cx="54864" cy="2286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185416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D1B3E"/>
                </a:solidFill>
                <a:latin typeface="Calibri"/>
              </a:rPr>
              <a:t>Three-tier translation pipeline: exact → fuzzy → transliteration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715768"/>
            <a:ext cx="54864" cy="2286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660904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D1B3E"/>
                </a:solidFill>
                <a:latin typeface="Calibri"/>
              </a:rPr>
              <a:t>Text-to-Speech: gTTS (online) + pyttsx3 (offline) fallback chain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191256"/>
            <a:ext cx="54864" cy="2286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313639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D1B3E"/>
                </a:solidFill>
                <a:latin typeface="Calibri"/>
              </a:rPr>
              <a:t>REST API with CORS support — ready for mobile/web integration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666744"/>
            <a:ext cx="54864" cy="2286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611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D1B3E"/>
                </a:solidFill>
                <a:latin typeface="Calibri"/>
              </a:rPr>
              <a:t>Serverless deployment on Vercel — accessible over the internet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142232"/>
            <a:ext cx="54864" cy="2286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4087368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D1B3E"/>
                </a:solidFill>
                <a:latin typeface="Calibri"/>
              </a:rPr>
              <a:t>Fuzzy matching using SequenceMatcher for typo-tolerant queries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617720"/>
            <a:ext cx="54864" cy="22860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4562856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D1B3E"/>
                </a:solidFill>
                <a:latin typeface="Calibri"/>
              </a:rPr>
              <a:t>Zero external NLP dependency (no NLTK/spaCy required at runtime)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6510528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EFF4"/>
                </a:solidFill>
                <a:latin typeface="Calibri"/>
              </a:rPr>
              <a:t>Hindi–Santali Translator | Team-1 | KIET-ADS | 2025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700"/>
                </a:solidFill>
                <a:latin typeface="Calibri"/>
              </a:rPr>
              <a:t>Step-by-step translation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07592"/>
            <a:ext cx="320040" cy="3200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289304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34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1B3E"/>
                </a:solidFill>
                <a:latin typeface="Calibri"/>
              </a:rPr>
              <a:t>User types Hindi text in the web UI or sends POST /api/translate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819656"/>
            <a:ext cx="320040" cy="320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80136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4650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1B3E"/>
                </a:solidFill>
                <a:latin typeface="Calibri"/>
              </a:rPr>
              <a:t>TextProcessor cleans and tokenizes the input (handles Unicode/Devanagari)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331720"/>
            <a:ext cx="32004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231343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2585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1B3E"/>
                </a:solidFill>
                <a:latin typeface="Calibri"/>
              </a:rPr>
              <a:t>TranslationEngine performs exact dictionary lookup (O(1) hash map)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843784"/>
            <a:ext cx="32004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282549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7706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1B3E"/>
                </a:solidFill>
                <a:latin typeface="Calibri"/>
              </a:rPr>
              <a:t>If no exact match → fuzzy matching via SequenceMatcher (similarity &gt; 0.8)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355848"/>
            <a:ext cx="320040" cy="32004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" y="333756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2826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1B3E"/>
                </a:solidFill>
                <a:latin typeface="Calibri"/>
              </a:rPr>
              <a:t>If still no match → character-level transliteration via HINDI_OLCHIKI_MAP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867912"/>
            <a:ext cx="320040" cy="3200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3849624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794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1B3E"/>
                </a:solidFill>
                <a:latin typeface="Calibri"/>
              </a:rPr>
              <a:t>Translated Ol Chiki text returned as JSON response to the browser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4379976"/>
            <a:ext cx="320040" cy="3200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" y="436168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30682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1B3E"/>
                </a:solidFill>
                <a:latin typeface="Calibri"/>
              </a:rPr>
              <a:t>Optional: /api/speak → TTS generates audio (gTTS MP3 or pyttsx3 WAV)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6510528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EFF4"/>
                </a:solidFill>
                <a:latin typeface="Calibri"/>
              </a:rPr>
              <a:t>Hindi–Santali Translator | Team-1 | KIET-ADS | 2025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Sample Translations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700"/>
                </a:solidFill>
                <a:latin typeface="Calibri"/>
              </a:rPr>
              <a:t>Testing results — 100% accuracy on verified 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8229600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1280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Hindi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Santali (Ol Chiki)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6552" y="1280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352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600200"/>
            <a:ext cx="8229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16459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नमस्ते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0552" y="1645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Noto Sans OldChiki"/>
              </a:rPr>
              <a:t>ᱡᱚᱦᱟᱨ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16459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Hello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1645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88E5"/>
                </a:solidFill>
                <a:latin typeface="Calibri"/>
              </a:rPr>
              <a:t>Dictionary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965960"/>
            <a:ext cx="82296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" y="2011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पानी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0552" y="2011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Noto Sans OldChiki"/>
              </a:rPr>
              <a:t>ᱫᱟᱜ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011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Water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2011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88E5"/>
                </a:solidFill>
                <a:latin typeface="Calibri"/>
              </a:rPr>
              <a:t>Dictionary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331720"/>
            <a:ext cx="8229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2377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माँ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30552" y="2377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Noto Sans OldChiki"/>
              </a:rPr>
              <a:t>ᱟᱭᱳ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2377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Mother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2377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88E5"/>
                </a:solidFill>
                <a:latin typeface="Calibri"/>
              </a:rPr>
              <a:t>Dictionary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697480"/>
            <a:ext cx="82296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2" y="27432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सूरज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0552" y="2743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Noto Sans OldChiki"/>
              </a:rPr>
              <a:t>ᱧᱤᱸᱫᱟ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6552" y="27432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Sun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2743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88E5"/>
                </a:solidFill>
                <a:latin typeface="Calibri"/>
              </a:rPr>
              <a:t>Dictionary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063240"/>
            <a:ext cx="8229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" y="3108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धन्यवाद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30552" y="3108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Noto Sans OldChiki"/>
              </a:rPr>
              <a:t>ᱢᱟᱨᱟᱝ ᱵᱟᱸᱫᱷᱩ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16552" y="3108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Thank you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5352" y="3108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88E5"/>
                </a:solidFill>
                <a:latin typeface="Calibri"/>
              </a:rPr>
              <a:t>Dictionary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3429000"/>
            <a:ext cx="82296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1752" y="3474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एक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30552" y="34747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Noto Sans OldChiki"/>
              </a:rPr>
              <a:t>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6552" y="3474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5352" y="34747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88E5"/>
                </a:solidFill>
                <a:latin typeface="Calibri"/>
              </a:rPr>
              <a:t>Dictionary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3794760"/>
            <a:ext cx="8229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" y="38404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हाथी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30552" y="3840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Noto Sans OldChiki"/>
              </a:rPr>
              <a:t>ᱦᱟᱛᱤ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16552" y="38404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Elephant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5352" y="3840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88E5"/>
                </a:solidFill>
                <a:latin typeface="Calibri"/>
              </a:rPr>
              <a:t>Dictionary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4160520"/>
            <a:ext cx="82296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1752" y="4206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नमस्ते कैसे हो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30552" y="4206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Noto Sans OldChiki"/>
              </a:rPr>
              <a:t>ᱡᱚᱦᱟᱨ ᱮᱛᱚᱢ ᱦᱮᱡ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16552" y="4206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  <a:latin typeface="Calibri"/>
              </a:rPr>
              <a:t>Hello, how are you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45352" y="4206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88E5"/>
                </a:solidFill>
                <a:latin typeface="Calibri"/>
              </a:rPr>
              <a:t>Phrase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2880" y="6510528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EFF4"/>
                </a:solidFill>
                <a:latin typeface="Calibri"/>
              </a:rPr>
              <a:t>Hindi–Santali Translator | Team-1 | KIET-ADS |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F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700"/>
                </a:solidFill>
                <a:latin typeface="Calibri"/>
              </a:rPr>
              <a:t>What we achieved and what lies ahead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88720"/>
            <a:ext cx="41148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188720"/>
            <a:ext cx="41148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3E"/>
                </a:solidFill>
                <a:latin typeface="Calibri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6916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  <a:latin typeface="Calibri"/>
              </a:rPr>
              <a:t>✓  Built a production-ready Hindi → Santali translator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12140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  <a:latin typeface="Calibri"/>
              </a:rPr>
              <a:t>✓  3,462 verified word pairs with 100%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2551176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  <a:latin typeface="Calibri"/>
              </a:rPr>
              <a:t>✓  Multi-tier NLP pipeline (dict + fuzzy + transliterate)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980944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  <a:latin typeface="Calibri"/>
              </a:rPr>
              <a:t>✓  TTS voice output in Santali (Ol Chiki)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341071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  <a:latin typeface="Calibri"/>
              </a:rPr>
              <a:t>✓  Deployed on Vercel — internet accessible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8404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  <a:latin typeface="Calibri"/>
              </a:rPr>
              <a:t>✓  REST API for third-party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427024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  <a:latin typeface="Calibri"/>
              </a:rPr>
              <a:t>✓  Supports preservation of Santali tribal language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1188720"/>
            <a:ext cx="429768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1188720"/>
            <a:ext cx="4297680" cy="54864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1234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3E"/>
                </a:solidFill>
                <a:latin typeface="Calibri"/>
              </a:rPr>
              <a:t>Future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6916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  <a:latin typeface="Calibri"/>
              </a:rPr>
              <a:t>→  Neural Machine Translation (seq2seq / transformer)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12140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  <a:latin typeface="Calibri"/>
              </a:rPr>
              <a:t>→  Support for more tribal languages (Gondi, Kuvi, Ho)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55117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  <a:latin typeface="Calibri"/>
              </a:rPr>
              <a:t>→  OCR input — translate from images of 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98094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  <a:latin typeface="Calibri"/>
              </a:rPr>
              <a:t>→  Speech-to-text input (voice recognition in Hindi)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41071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  <a:latin typeface="Calibri"/>
              </a:rPr>
              <a:t>→  Mobile app (Android/iOS)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404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  <a:latin typeface="Calibri"/>
              </a:rPr>
              <a:t>→  Wikipedia-level dataset expansion (10k+ pairs)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27024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  <a:latin typeface="Calibri"/>
              </a:rPr>
              <a:t>→  Offline PWA with service workers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6510528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EFF4"/>
                </a:solidFill>
                <a:latin typeface="Calibri"/>
              </a:rPr>
              <a:t>Hindi–Santali Translator | Team-1 | KIET-ADS | 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0" y="-1097280"/>
            <a:ext cx="4572000" cy="457200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5029200"/>
            <a:ext cx="3200400" cy="320040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8700"/>
                </a:solidFill>
                <a:latin typeface="Calibri"/>
              </a:rPr>
              <a:t>ᱡᱚᱦᱟᱨ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4447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CEFF4"/>
                </a:solidFill>
                <a:latin typeface="Calibri"/>
              </a:rPr>
              <a:t>(Johar — Thank You in Santali)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965960"/>
            <a:ext cx="2743200" cy="36576"/>
          </a:xfrm>
          <a:prstGeom prst="rect">
            <a:avLst/>
          </a:prstGeom>
          <a:solidFill>
            <a:srgbClr val="FF8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2194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Hindi → Santali Translator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3063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88E5"/>
                </a:solidFill>
                <a:latin typeface="Calibri"/>
              </a:rPr>
              <a:t>G. Satyanarayana (Lead)  ·  P. Kalyani  ·  V. Ramakrishna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4564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88E5"/>
                </a:solidFill>
                <a:latin typeface="Calibri"/>
              </a:rPr>
              <a:t>K. Surya Praveen  ·  S. Mahesh  ·  G. Gangaraju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409651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CEFF4"/>
                </a:solidFill>
                <a:latin typeface="Calibri"/>
              </a:rPr>
              <a:t>Guided by: K. Praveen  |  IIIT Hyderabad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45079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CEFF4"/>
                </a:solidFill>
                <a:latin typeface="Calibri"/>
              </a:rPr>
              <a:t>Institution: KIET — AI &amp; Data Science Dept.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49194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CEFF4"/>
                </a:solidFill>
                <a:latin typeface="Calibri"/>
              </a:rPr>
              <a:t>Subject: Machine Learning  |  2024–2025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7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8700"/>
                </a:solidFill>
                <a:latin typeface="Calibri"/>
              </a:rPr>
              <a:t>"Preserving Santali Language through Technology"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